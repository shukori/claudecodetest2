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none" anchor="ctr" lIns="2286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IPAGothic"/>
              </a:rPr>
              <a:t>HYUGA PRIMARY CARE（きらり薬局）── 福岡県 競合マップ</a:t>
            </a:r>
          </a:p>
          <a:p>
            <a:r>
              <a:rPr sz="1250" b="0">
                <a:solidFill>
                  <a:srgbClr val="CFE2F3"/>
                </a:solidFill>
                <a:latin typeface="IPAGothic"/>
              </a:rPr>
              <a:t>ポジション：「在宅に振り切った唯一の上場プレイヤー」── 福岡が根拠地（先行者）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51560"/>
            <a:ext cx="2103120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競合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051560"/>
            <a:ext cx="2286000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タイプ・規模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051560"/>
            <a:ext cx="2743200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福岡での在宅姿勢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051560"/>
            <a:ext cx="4416552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HYUGAとの戦い方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35608"/>
            <a:ext cx="21031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そうごう薬局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(総合メディカル)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35608"/>
            <a:ext cx="22860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大手チェーン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福岡72店超／県内最大級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435608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在宅も対応するが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主軸は門前・外来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435608"/>
            <a:ext cx="4416552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同一施設で両者が営業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→施設リレーションの深さで棲み分け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48840"/>
            <a:ext cx="210312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アイン薬局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(アインHD)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148840"/>
            <a:ext cx="22860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全国大手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全国836店超／在宅90%実施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48840"/>
            <a:ext cx="27432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福岡県内に複数店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在宅実績あるが外来主体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48840"/>
            <a:ext cx="4416552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規模では劣後。在宅『本気度』と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24時間対応で差別化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862072"/>
            <a:ext cx="210312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日本調剤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862072"/>
            <a:ext cx="228600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全国大手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全国697店(2022)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62072"/>
            <a:ext cx="274320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福岡に複数店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門前・外来中心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862072"/>
            <a:ext cx="4416552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在宅比率が低く施設在宅では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直接競合になりにくい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502152"/>
            <a:ext cx="210312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さくら薬局/新生堂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タケシタ調剤 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502152"/>
            <a:ext cx="22860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地場チェーン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北部九州中心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502152"/>
            <a:ext cx="27432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部分的に在宅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外来が中心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502152"/>
            <a:ext cx="4416552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施設・ケアマネ介入を先着で固め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KIRARI PRIMEで連携先化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215384"/>
            <a:ext cx="2103120" cy="822960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E8B57"/>
                </a:solidFill>
                <a:latin typeface="IPAGothic"/>
              </a:rPr>
              <a:t>★ きらり薬局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E8B57"/>
                </a:solidFill>
                <a:latin typeface="IPAGothic"/>
              </a:rPr>
              <a:t>(HYUGA)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15384"/>
            <a:ext cx="2286000" cy="822960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在宅特化・上場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福岡中心37店／施設隣接立地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215384"/>
            <a:ext cx="2743200" cy="822960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在宅売上60%／在宅9,000名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1店=門前の約7倍患者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215384"/>
            <a:ext cx="4416552" cy="822960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施設隣接立地＋KIRARI PRIMEで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地場薬局を競合から味方へ転換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129784"/>
            <a:ext cx="11548872" cy="868680"/>
          </a:xfrm>
          <a:prstGeom prst="rect">
            <a:avLst/>
          </a:prstGeom>
          <a:solidFill>
            <a:srgbClr val="E3F2E9"/>
          </a:solidFill>
          <a:ln w="19050">
            <a:solidFill>
              <a:srgbClr val="2E8B57"/>
            </a:solidFill>
          </a:ln>
        </p:spPr>
        <p:txBody>
          <a:bodyPr wrap="square" anchor="ctr" lIns="152400" tIns="50800" bIns="5080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2E8B57"/>
                </a:solidFill>
                <a:latin typeface="IPAGothic"/>
              </a:rPr>
              <a:t>戦い方の要約：</a:t>
            </a:r>
            <a:r>
              <a:rPr sz="1150" b="1">
                <a:solidFill>
                  <a:srgbClr val="222222"/>
                </a:solidFill>
                <a:latin typeface="IPAGothic"/>
              </a:rPr>
              <a:t>大手とは「在宅への本気度（売上比率・24h・施設ノウハウ）」で差別化。</a:t>
            </a:r>
          </a:p>
          <a:p>
            <a:pPr>
              <a:lnSpc>
                <a:spcPct val="105000"/>
              </a:lnSpc>
            </a:pPr>
            <a:r>
              <a:rPr sz="1150" b="0">
                <a:solidFill>
                  <a:srgbClr val="222222"/>
                </a:solidFill>
                <a:latin typeface="IPAGothic"/>
              </a:rPr>
              <a:t>地場とは「施設囲い込みの先着」と「KIRARI PRIME（競合→連携化）」で無力化する。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none" anchor="ctr" lIns="2286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IPAGothic"/>
              </a:rPr>
              <a:t>HYUGA PRIMARY CARE（きらり薬局）── 九州全域 競合マップ</a:t>
            </a:r>
          </a:p>
          <a:p>
            <a:r>
              <a:rPr sz="1250" b="0">
                <a:solidFill>
                  <a:srgbClr val="CFE2F3"/>
                </a:solidFill>
                <a:latin typeface="IPAGothic"/>
              </a:rPr>
              <a:t>ポジション：「福岡ドミナント確立済み・他県は未開拓の空白地帯」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51560"/>
            <a:ext cx="2103120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競合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051560"/>
            <a:ext cx="2286000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タイプ・規模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051560"/>
            <a:ext cx="2743200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九州での動向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051560"/>
            <a:ext cx="4416552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脅威度と対策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35608"/>
            <a:ext cx="21031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アインHD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35608"/>
            <a:ext cx="22860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全国大手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全国1,000店超／在宅90%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435608"/>
            <a:ext cx="27432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2021年 エス・ケー・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ファーマシーと業務資本提携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435608"/>
            <a:ext cx="4416552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★最大脅威。九州に足場を作り水面下で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在宅強化中。先にドミナント堀を深める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85416"/>
            <a:ext cx="210312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そうごう薬局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(総合メディカル)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185416"/>
            <a:ext cx="22860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大手チェーン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全国742店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85416"/>
            <a:ext cx="27432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福岡を拠点に九州各県へ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積極出店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85416"/>
            <a:ext cx="4416552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主戦場は外来。在宅は付帯水準だが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M&amp;Aで在宅強化の可能性あり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898648"/>
            <a:ext cx="21031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コスモス薬品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898648"/>
            <a:ext cx="22860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ドラッグストア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九州発祥・大量出店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98648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九州全土に展開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(調剤併設型)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898648"/>
            <a:ext cx="4416552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現時点は外来・OTC主体。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在宅の直接競合には今のところならず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611880"/>
            <a:ext cx="210312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各県地場チェーン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611880"/>
            <a:ext cx="22860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熊本・鹿児島・宮崎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長崎等の県内中小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611880"/>
            <a:ext cx="27432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県内シェア保有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在宅は局所的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611880"/>
            <a:ext cx="4416552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在宅は小規模。施設紹介ネットを持つ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場合は KIRARI PRIME で取込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325112"/>
            <a:ext cx="2103120" cy="713232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E8B57"/>
                </a:solidFill>
                <a:latin typeface="IPAGothic"/>
              </a:rPr>
              <a:t>★ きらり薬局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E8B57"/>
                </a:solidFill>
                <a:latin typeface="IPAGothic"/>
              </a:rPr>
              <a:t>(HYUGA)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325112"/>
            <a:ext cx="2286000" cy="713232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在宅特化・上場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西日本37店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325112"/>
            <a:ext cx="2743200" cy="713232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実質「福岡＋佐賀」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に留まる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325112"/>
            <a:ext cx="4416552" cy="713232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福岡以外の九州は未進出が大半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＝チャンス兼死角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129784"/>
            <a:ext cx="11548872" cy="868680"/>
          </a:xfrm>
          <a:prstGeom prst="rect">
            <a:avLst/>
          </a:prstGeom>
          <a:solidFill>
            <a:srgbClr val="E3F2E9"/>
          </a:solidFill>
          <a:ln w="19050">
            <a:solidFill>
              <a:srgbClr val="2E8B57"/>
            </a:solidFill>
          </a:ln>
        </p:spPr>
        <p:txBody>
          <a:bodyPr wrap="square" anchor="ctr" lIns="152400" tIns="50800" bIns="5080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2E8B57"/>
                </a:solidFill>
                <a:latin typeface="IPAGothic"/>
              </a:rPr>
              <a:t>戦い方の要約：</a:t>
            </a:r>
            <a:r>
              <a:rPr sz="1150" b="1">
                <a:solidFill>
                  <a:srgbClr val="222222"/>
                </a:solidFill>
                <a:latin typeface="IPAGothic"/>
              </a:rPr>
              <a:t>「九州制覇」より「福岡密度を高めモデルを完成→次の1〜2県でM&amp;A先行」が現実解。</a:t>
            </a:r>
          </a:p>
          <a:p>
            <a:pPr>
              <a:lnSpc>
                <a:spcPct val="105000"/>
              </a:lnSpc>
            </a:pPr>
            <a:r>
              <a:rPr sz="1150" b="0">
                <a:solidFill>
                  <a:srgbClr val="222222"/>
                </a:solidFill>
                <a:latin typeface="IPAGothic"/>
              </a:rPr>
              <a:t>大手（特にアインHD）のM&amp;A攻勢より先に、熊本・鹿児島の在宅特化薬局（売り案件）を押さえる。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none" anchor="ctr" lIns="2286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IPAGothic"/>
              </a:rPr>
              <a:t>HYUGA PRIMARY CARE（きらり薬局）── 関東（千葉・神奈川・東京） 競合マップ</a:t>
            </a:r>
          </a:p>
          <a:p>
            <a:r>
              <a:rPr sz="1250" b="0">
                <a:solidFill>
                  <a:srgbClr val="CFE2F3"/>
                </a:solidFill>
                <a:latin typeface="IPAGothic"/>
              </a:rPr>
              <a:t>ポジション：「福岡実績を持ち込んだ挑戦者。施設在宅は差別化可だが、ブランド・採用で地力差」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51560"/>
            <a:ext cx="2103120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競合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051560"/>
            <a:ext cx="2286000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タイプ・規模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051560"/>
            <a:ext cx="2743200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関東での在宅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051560"/>
            <a:ext cx="4416552" cy="384048"/>
          </a:xfrm>
          <a:prstGeom prst="rect">
            <a:avLst/>
          </a:prstGeom>
          <a:solidFill>
            <a:srgbClr val="2E6DA4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PAGothic"/>
              </a:rPr>
              <a:t>HYUGAとの戦い方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35608"/>
            <a:ext cx="21031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ヤックス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(千葉薬品)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35608"/>
            <a:ext cx="228600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千葉地場大手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千葉全域に展開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435608"/>
            <a:ext cx="274320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千葉県内で在宅医療に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積極対応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435608"/>
            <a:ext cx="4416552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★最大の直接競合。地域関係で先行。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施設在宅にどこまで本腰か要確認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67128"/>
            <a:ext cx="210312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アイセイ薬局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167128"/>
            <a:ext cx="22860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大手チェーン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全国301店／関東主力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67128"/>
            <a:ext cx="27432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薬剤師訪問サービスあり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ただし外来中心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67128"/>
            <a:ext cx="4416552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在宅売上比率はHYUGAと比較に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ならない水準。施設密着で差別化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880360"/>
            <a:ext cx="21031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日本調剤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880360"/>
            <a:ext cx="22860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全国大手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全国697店／関東が主力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8036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関東主力市場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在宅も対応するが外来主戦場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880360"/>
            <a:ext cx="4416552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2025年TOB等 業界再編の中心。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規模で圧倒も在宅特化ではない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593592"/>
            <a:ext cx="210312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アイン薬局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IPAGothic"/>
              </a:rPr>
              <a:t>(アインHD)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593592"/>
            <a:ext cx="22860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全国大手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全国1,000店超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593592"/>
            <a:ext cx="2743200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関東全域に大量出店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在宅も実施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593592"/>
            <a:ext cx="4416552" cy="713232"/>
          </a:xfrm>
          <a:prstGeom prst="rect">
            <a:avLst/>
          </a:prstGeom>
          <a:solidFill>
            <a:srgbClr val="F2F2F2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在宅実績は広いが『付帯』止まり。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IPAGothic"/>
              </a:rPr>
              <a:t>施設密着モデルではHYUGAに分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306824"/>
            <a:ext cx="2103120" cy="749808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E8B57"/>
                </a:solidFill>
                <a:latin typeface="IPAGothic"/>
              </a:rPr>
              <a:t>★ きらり薬局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E8B57"/>
                </a:solidFill>
                <a:latin typeface="IPAGothic"/>
              </a:rPr>
              <a:t>(HYUGA)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306824"/>
            <a:ext cx="2286000" cy="749808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在宅特化・上場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関東17店(拡張中)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306824"/>
            <a:ext cx="2743200" cy="749808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千葉9・神奈川6・東京2店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2025/6 本千葉店開局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306824"/>
            <a:ext cx="4416552" cy="749808"/>
          </a:xfrm>
          <a:prstGeom prst="rect">
            <a:avLst/>
          </a:prstGeom>
          <a:solidFill>
            <a:srgbClr val="E3F2E9"/>
          </a:solidFill>
          <a:ln w="15240">
            <a:solidFill>
              <a:srgbClr val="FFFFFF"/>
            </a:solidFill>
          </a:ln>
        </p:spPr>
        <p:txBody>
          <a:bodyPr wrap="square" anchor="ctr" lIns="76200" rIns="76200" tIns="38100" bIns="381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まだ「面」未完成。施設関係構築が急務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8B57"/>
                </a:solidFill>
                <a:latin typeface="IPAGothic"/>
              </a:rPr>
              <a:t>KIRARI PRIMEで地場中小を取込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148072"/>
            <a:ext cx="11548872" cy="868680"/>
          </a:xfrm>
          <a:prstGeom prst="rect">
            <a:avLst/>
          </a:prstGeom>
          <a:solidFill>
            <a:srgbClr val="E3F2E9"/>
          </a:solidFill>
          <a:ln w="19050">
            <a:solidFill>
              <a:srgbClr val="2E8B57"/>
            </a:solidFill>
          </a:ln>
        </p:spPr>
        <p:txBody>
          <a:bodyPr wrap="square" anchor="ctr" lIns="152400" tIns="50800" bIns="5080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2E8B57"/>
                </a:solidFill>
                <a:latin typeface="IPAGothic"/>
              </a:rPr>
              <a:t>関東の難所：</a:t>
            </a:r>
            <a:r>
              <a:rPr sz="1150" b="1">
                <a:solidFill>
                  <a:srgbClr val="222222"/>
                </a:solidFill>
                <a:latin typeface="IPAGothic"/>
              </a:rPr>
              <a:t>競合が多く市場成熟。福岡型の『空白地帯×先行者優位』は通用しない。採用コストも高い。</a:t>
            </a:r>
          </a:p>
          <a:p>
            <a:pPr>
              <a:lnSpc>
                <a:spcPct val="105000"/>
              </a:lnSpc>
            </a:pPr>
            <a:r>
              <a:rPr sz="1150" b="1">
                <a:solidFill>
                  <a:srgbClr val="2E8B57"/>
                </a:solidFill>
                <a:latin typeface="IPAGothic"/>
              </a:rPr>
              <a:t>戦い方：</a:t>
            </a:r>
            <a:r>
              <a:rPr sz="1150" b="0">
                <a:solidFill>
                  <a:srgbClr val="222222"/>
                </a:solidFill>
                <a:latin typeface="IPAGothic"/>
              </a:rPr>
              <a:t>福岡型『施設隣接×24h在宅』を持込み千葉・神奈川を面で固め、KIRARI PRIMEで資産ライト拡大。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